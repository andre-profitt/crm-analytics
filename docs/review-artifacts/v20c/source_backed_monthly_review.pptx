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ARR (€M)</c:v>
                </c:pt>
              </c:strCache>
            </c:strRef>
          </c:tx>
          <c:spPr>
            <a:solidFill>
              <a:srgbClr val="094FB2"/>
            </a:solidFill>
          </c:spPr>
          <c:cat>
            <c:strRef>
              <c:f>Sheet1!$A$2:$A$4</c:f>
              <c:strCache>
                <c:ptCount val="3"/>
                <c:pt idx="0">
                  <c:v>EMEA</c:v>
                </c:pt>
                <c:pt idx="1">
                  <c:v>North America</c:v>
                </c:pt>
                <c:pt idx="2">
                  <c:v>APAC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114.7</c:v>
                </c:pt>
                <c:pt idx="1">
                  <c:v>40.97</c:v>
                </c:pt>
                <c:pt idx="2">
                  <c:v>20.43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1194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C748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011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" y="0"/>
            <a:ext cx="73152" cy="6858000"/>
          </a:xfrm>
          <a:prstGeom prst="rect">
            <a:avLst/>
          </a:prstGeom>
          <a:solidFill>
            <a:srgbClr val="6F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788"/>
                </a:solidFill>
                <a:latin typeface="Microsoft Sans Serif"/>
              </a:rPr>
              <a:t>SIMCORP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8869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011946"/>
                </a:solidFill>
                <a:latin typeface="Microsoft Sans Serif"/>
              </a:rPr>
              <a:t>Monthly Sales Director Operating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C7482"/>
                </a:solidFill>
                <a:latin typeface="Microsoft Sans Serif"/>
              </a:rPr>
              <a:t>Source-backed monthly review | Snapshot 2026-04-30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791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11946"/>
                </a:solidFill>
                <a:latin typeface="Microsoft Sans Serif"/>
              </a:rPr>
              <a:t>€176.1M open ARR across 73 deals, with source checks complete and no tie-out issues.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4436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8A73"/>
                </a:solidFill>
                <a:latin typeface="Microsoft Sans Serif"/>
              </a:rPr>
              <a:t>Truth Status: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0156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7482"/>
                </a:solidFill>
                <a:latin typeface="Microsoft Sans Serif"/>
              </a:rPr>
              <a:t>Publish gate: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7647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7482"/>
                </a:solidFill>
                <a:latin typeface="Microsoft Sans Serif"/>
              </a:rPr>
              <a:t>Evidence run archived in release packet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72384"/>
            <a:ext cx="1645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1">
                <a:solidFill>
                  <a:srgbClr val="011946"/>
                </a:solidFill>
                <a:latin typeface="Microsoft Sans Serif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3075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E3788"/>
                </a:solidFill>
                <a:latin typeface="Microsoft Sans Serif"/>
              </a:rPr>
              <a:t>DIRECTORS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050791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7482"/>
                </a:solidFill>
                <a:latin typeface="Microsoft Sans Serif"/>
              </a:rPr>
              <a:t>Every region included.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072384"/>
            <a:ext cx="1645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1">
                <a:solidFill>
                  <a:srgbClr val="011946"/>
                </a:solidFill>
                <a:latin typeface="Microsoft Sans Serif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73075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E3788"/>
                </a:solidFill>
                <a:latin typeface="Microsoft Sans Serif"/>
              </a:rPr>
              <a:t>VALIDATED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4050791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7482"/>
                </a:solidFill>
                <a:latin typeface="Microsoft Sans Serif"/>
              </a:rPr>
              <a:t>Ready for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3072384"/>
            <a:ext cx="1645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1">
                <a:solidFill>
                  <a:srgbClr val="011946"/>
                </a:solidFill>
                <a:latin typeface="Microsoft Sans Serif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373075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E3788"/>
                </a:solidFill>
                <a:latin typeface="Microsoft Sans Serif"/>
              </a:rPr>
              <a:t>HIGH BLOCKERS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4050791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7482"/>
                </a:solidFill>
                <a:latin typeface="Microsoft Sans Serif"/>
              </a:rPr>
              <a:t>Must stay at zero.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7900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7482"/>
                </a:solidFill>
                <a:latin typeface="Microsoft Sans Serif"/>
              </a:rPr>
              <a:t>Prepared for analyst review, think-cell handoff, and monthly leadership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73152" cy="640080"/>
          </a:xfrm>
          <a:prstGeom prst="rect">
            <a:avLst/>
          </a:prstGeom>
          <a:solidFill>
            <a:srgbClr val="1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788"/>
                </a:solidFill>
                <a:latin typeface="Microsoft Sans Serif"/>
              </a:rPr>
              <a:t>2026-04-30   ·   PUBLISH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11946"/>
                </a:solidFill>
                <a:latin typeface="Microsoft Sans Serif"/>
              </a:rPr>
              <a:t>Publish gate is green across the evidence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7482"/>
                </a:solidFill>
                <a:latin typeface="Microsoft Sans Serif"/>
              </a:rPr>
              <a:t>The pack is release-ready only when source, workbook, fact, and deck checks all clear.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73152" cy="310896"/>
          </a:xfrm>
          <a:prstGeom prst="rect">
            <a:avLst/>
          </a:prstGeom>
          <a:solidFill>
            <a:srgbClr val="1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813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E3788"/>
                </a:solidFill>
                <a:latin typeface="Microsoft Sans Serif"/>
              </a:rPr>
              <a:t>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813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11946"/>
                </a:solidFill>
                <a:latin typeface="Microsoft Sans Serif"/>
              </a:rPr>
              <a:t>0 high blockers and 0 tie-out mismatches; evidence trail is ready for leadership review.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74519"/>
          <a:ext cx="107899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737360"/>
                <a:gridCol w="6583680"/>
              </a:tblGrid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Sans Serif"/>
                        </a:rPr>
                        <a:t>Gate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Sans Serif"/>
                        </a:rPr>
                        <a:t>Status / Count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Sans Serif"/>
                        </a:rPr>
                        <a:t>What it proves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</a:tr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Fact check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OK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Validated claims and evidence trail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Source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OK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Report extracts, workbook coverage, and readiness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High blockers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Must be zero for leadership publish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Tie-out mismatches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Deck/workbook/fact disagreement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Salesforce inputs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55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Salesforce reports and list views resolved for the month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Required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55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Required monthly inputs 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Director books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9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Normalized director books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41967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Validated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60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11946"/>
                          </a:solidFill>
                          <a:latin typeface="Microsoft Sans Serif"/>
                        </a:rPr>
                        <a:t>Presentation-ready facts with evidence 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7482"/>
                </a:solidFill>
                <a:latin typeface="Microsoft Sans Serif"/>
              </a:rPr>
              <a:t>Source: validated monthly evidence packet and publish readiness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73152" cy="640080"/>
          </a:xfrm>
          <a:prstGeom prst="rect">
            <a:avLst/>
          </a:prstGeom>
          <a:solidFill>
            <a:srgbClr val="6F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788"/>
                </a:solidFill>
                <a:latin typeface="Microsoft Sans Serif"/>
              </a:rPr>
              <a:t>2026-04-30   ·   REGIONAL ROLLUP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11946"/>
                </a:solidFill>
                <a:latin typeface="Microsoft Sans Serif"/>
              </a:rPr>
              <a:t>Regional open pipeline is reconciled and ready to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7482"/>
                </a:solidFill>
                <a:latin typeface="Microsoft Sans Serif"/>
              </a:rPr>
              <a:t>Regional totals are recomputed from director books; Salesforce queries are used as tie-out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73152" cy="310896"/>
          </a:xfrm>
          <a:prstGeom prst="rect">
            <a:avLst/>
          </a:prstGeom>
          <a:solidFill>
            <a:srgbClr val="6F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813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E3788"/>
                </a:solidFill>
                <a:latin typeface="Microsoft Sans Serif"/>
              </a:rPr>
              <a:t>EXECUTIVE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813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11946"/>
                </a:solidFill>
                <a:latin typeface="Microsoft Sans Serif"/>
              </a:rPr>
              <a:t>€176.1M open ARR across 73 deals; EMEA represents 65% of the open book.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8" y="1975104"/>
          <a:ext cx="5623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1975104"/>
          <a:ext cx="461772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08760"/>
                <a:gridCol w="914400"/>
                <a:gridCol w="685800"/>
                <a:gridCol w="685800"/>
              </a:tblGrid>
              <a:tr h="1010412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Region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Territories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Open ARR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Deals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Risk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</a:tr>
              <a:tr h="1010412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EMEA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Central Europe, Middle East &amp; Africa, NL &amp; Nordics, Southern Europe, UK &amp; Ireland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€114.7M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44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38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1010412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North America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Canada, NA Asset Management, Pension &amp;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€41.0M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10412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APAC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APAC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€20.4M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7482"/>
                </a:solidFill>
                <a:latin typeface="Microsoft Sans Serif"/>
              </a:rPr>
              <a:t>Source: validated regional rollups; ARR is open book, not active forecast unless explicitly labeled.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73152" cy="640080"/>
          </a:xfrm>
          <a:prstGeom prst="rect">
            <a:avLst/>
          </a:prstGeom>
          <a:solidFill>
            <a:srgbClr val="0E3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788"/>
                </a:solidFill>
                <a:latin typeface="Microsoft Sans Serif"/>
              </a:rPr>
              <a:t>2026-04-30   ·   DIRECTOR BOOK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11946"/>
                </a:solidFill>
                <a:latin typeface="Microsoft Sans Serif"/>
              </a:rPr>
              <a:t>Director book view: pipeline, risk, and tie-out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7482"/>
                </a:solidFill>
                <a:latin typeface="Microsoft Sans Serif"/>
              </a:rPr>
              <a:t>This view shows where the open book, risk rows, and data exceptions sit by director.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73152" cy="310896"/>
          </a:xfrm>
          <a:prstGeom prst="rect">
            <a:avLst/>
          </a:prstGeom>
          <a:solidFill>
            <a:srgbClr val="0E3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813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E3788"/>
                </a:solidFill>
                <a:latin typeface="Microsoft Sans Serif"/>
              </a:rPr>
              <a:t>OPERATOR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813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11946"/>
                </a:solidFill>
                <a:latin typeface="Microsoft Sans Serif"/>
              </a:rPr>
              <a:t>Top 3 books carry €97.7M (55%) of open ARR; 67 deal-risk rows need field action.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" y="1883664"/>
          <a:ext cx="8092439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28800"/>
                <a:gridCol w="1143000"/>
                <a:gridCol w="685800"/>
                <a:gridCol w="822960"/>
                <a:gridCol w="731520"/>
                <a:gridCol w="1005840"/>
              </a:tblGrid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Director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Territory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Open ARR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Deals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Risk rows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Tie-out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Source issues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Christian Ebbesen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NL &amp; Nordics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€39.3M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Dan Peppett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UK &amp; Ireland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€29.3M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Sarah Pittroff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Central Europe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€29.1M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14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14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Adam Steinhaus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Pension &amp;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€20.5M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Jesper Tyrer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APAC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€20.4M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Megan Miceli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Canada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€13.6M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Mourad Essofi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Middle East &amp; Africa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€8.6M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11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68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Francois Thaury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Southern 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€8.4M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  <a:tr h="436176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Patrick Gaughan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NA Asset Management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€6.8M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4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4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E4F7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7482"/>
                </a:solidFill>
                <a:latin typeface="Microsoft Sans Serif"/>
              </a:rPr>
              <a:t>Source: validated director facts; zero tie-out/source issues means the row is publish-clean.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73152" cy="640080"/>
          </a:xfrm>
          <a:prstGeom prst="rect">
            <a:avLst/>
          </a:prstGeom>
          <a:solidFill>
            <a:srgbClr val="FB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788"/>
                </a:solidFill>
                <a:latin typeface="Microsoft Sans Serif"/>
              </a:rPr>
              <a:t>2026-04-30   ·   PERIOD LOCK /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11946"/>
                </a:solidFill>
                <a:latin typeface="Microsoft Sans Serif"/>
              </a:rPr>
              <a:t>Quarter display logic: current quarter unless fallback is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7482"/>
                </a:solidFill>
                <a:latin typeface="Microsoft Sans Serif"/>
              </a:rPr>
              <a:t>Fallback is explicit: if current-quarter active pipeline is empty, the display moves to the forward quarter.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73152" cy="310896"/>
          </a:xfrm>
          <a:prstGeom prst="rect">
            <a:avLst/>
          </a:prstGeom>
          <a:solidFill>
            <a:srgbClr val="FB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813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E3788"/>
                </a:solidFill>
                <a:latin typeface="Microsoft Sans Serif"/>
              </a:rPr>
              <a:t>PERIOD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813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11946"/>
                </a:solidFill>
                <a:latin typeface="Microsoft Sans Serif"/>
              </a:rPr>
              <a:t>4 territories use forward fallback; current/forward empty territories: 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" y="1901952"/>
          <a:ext cx="8823960" cy="4270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828800"/>
                <a:gridCol w="1325880"/>
                <a:gridCol w="2057400"/>
                <a:gridCol w="960120"/>
                <a:gridCol w="960120"/>
              </a:tblGrid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Director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Territory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Display quarter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Reason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Current active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Forward active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Jesper Tyrer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APAC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Q2 2026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Current quarter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4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4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Megan Miceli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Canada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Forward fallback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Sarah Pittroff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Central Europe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Q2 2026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Current quarter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5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Mourad Essofi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Middle East &amp; Africa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Current quarter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Patrick Gaughan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NA Asset Management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Q3 2026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Forward fallback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8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Christian Ebbesen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NL &amp; Nordics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Forward fallback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Adam Steinhaus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Pension &amp; Insurance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Q3 2026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Forward fallback</a:t>
                      </a:r>
                    </a:p>
                  </a:txBody>
                  <a:tcPr>
                    <a:solidFill>
                      <a:srgbClr val="FFF1D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8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27024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Francois Thaury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Southern 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Current and forward empty</a:t>
                      </a:r>
                    </a:p>
                  </a:txBody>
                  <a:tcPr>
                    <a:solidFill>
                      <a:srgbClr val="F8E8F1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7032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Dan Peppett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UK &amp; Ireland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Q2 2026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Current quarter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3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7482"/>
                </a:solidFill>
                <a:latin typeface="Microsoft Sans Serif"/>
              </a:rPr>
              <a:t>Source: monthly period-control table for each territory.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73152" cy="640080"/>
          </a:xfrm>
          <a:prstGeom prst="rect">
            <a:avLst/>
          </a:prstGeom>
          <a:solidFill>
            <a:srgbClr val="9D2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788"/>
                </a:solidFill>
                <a:latin typeface="Microsoft Sans Serif"/>
              </a:rPr>
              <a:t>2026-04-30   ·   DECK PRODUCTION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11946"/>
                </a:solidFill>
                <a:latin typeface="Microsoft Sans Serif"/>
              </a:rPr>
              <a:t>Leadership readout: clean evidence trail, ready for monthly deck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7482"/>
                </a:solidFill>
                <a:latin typeface="Microsoft Sans Serif"/>
              </a:rPr>
              <a:t>The same workbook, named elements, and evidence checks can be rerun each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486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011946"/>
                </a:solidFill>
                <a:latin typeface="Microsoft Sans Serif"/>
              </a:rPr>
              <a:t>• 55 Salesforce inputs resolved; 55 required inputs present.</a:t>
            </a:r>
          </a:p>
          <a:p>
            <a:r>
              <a:rPr sz="1400">
                <a:solidFill>
                  <a:srgbClr val="011946"/>
                </a:solidFill>
                <a:latin typeface="Microsoft Sans Serif"/>
              </a:rPr>
              <a:t>• 9 directors, 60 metrics, and 60 validated claims are ready.</a:t>
            </a:r>
          </a:p>
          <a:p>
            <a:r>
              <a:rPr sz="1400">
                <a:solidFill>
                  <a:srgbClr val="011946"/>
                </a:solidFill>
                <a:latin typeface="Microsoft Sans Serif"/>
              </a:rPr>
              <a:t>• 4 territories use forward-quarter fallback; every decision is visible in the period-control table.</a:t>
            </a:r>
          </a:p>
          <a:p>
            <a:r>
              <a:rPr sz="1400">
                <a:solidFill>
                  <a:srgbClr val="011946"/>
                </a:solidFill>
                <a:latin typeface="Microsoft Sans Serif"/>
              </a:rPr>
              <a:t>• No silent calendar drift: snapshot, current quarter, forward quarter, and source requirements stay locked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64408"/>
            <a:ext cx="73152" cy="310896"/>
          </a:xfrm>
          <a:prstGeom prst="rect">
            <a:avLst/>
          </a:prstGeom>
          <a:solidFill>
            <a:srgbClr val="9D2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20040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E3788"/>
                </a:solidFill>
                <a:latin typeface="Microsoft Sans Serif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2004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11946"/>
                </a:solidFill>
                <a:latin typeface="Microsoft Sans Serif"/>
              </a:rPr>
              <a:t>Use this packet for final deck production; keep edits inside the verified fact set.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3858768"/>
          <a:ext cx="10149840" cy="1856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5394960"/>
                <a:gridCol w="3246120"/>
              </a:tblGrid>
              <a:tr h="371246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Artifact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Reference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Sans Serif"/>
                        </a:rPr>
                        <a:t>Use</a:t>
                      </a:r>
                    </a:p>
                  </a:txBody>
                  <a:tcPr>
                    <a:solidFill>
                      <a:srgbClr val="011946"/>
                    </a:solidFill>
                  </a:tcPr>
                </a:tc>
              </a:tr>
              <a:tr h="371246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Fact check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Release packet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Validated facts and claims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71246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Publish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Publish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Data and workbook readiness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1246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Period decisions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Period decisions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Quarter and fallback decisions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71247"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think-cell elements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TruthStatus, RegionalRollupsTable, DirectorKpiTable, PublishBlockersTable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0800" rIns="50800" tIns="38100" bIns="381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11946"/>
                          </a:solidFill>
                          <a:latin typeface="Microsoft Sans Serif"/>
                        </a:rPr>
                        <a:t>Named PowerPoint handoff 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7482"/>
                </a:solidFill>
                <a:latin typeface="Microsoft Sans Serif"/>
              </a:rPr>
              <a:t>Source: release packet and think-cell handoff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